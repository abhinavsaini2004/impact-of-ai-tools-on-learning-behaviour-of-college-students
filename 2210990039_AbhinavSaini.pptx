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 id="2147483674" r:id="rId5"/>
  </p:sldMasterIdLst>
  <p:notesMasterIdLst>
    <p:notesMasterId r:id="rId15"/>
  </p:notesMasterIdLst>
  <p:handoutMasterIdLst>
    <p:handoutMasterId r:id="rId16"/>
  </p:handoutMasterIdLst>
  <p:sldIdLst>
    <p:sldId id="256" r:id="rId6"/>
    <p:sldId id="257" r:id="rId7"/>
    <p:sldId id="270" r:id="rId8"/>
    <p:sldId id="272" r:id="rId9"/>
    <p:sldId id="269" r:id="rId10"/>
    <p:sldId id="271" r:id="rId11"/>
    <p:sldId id="273" r:id="rId12"/>
    <p:sldId id="274" r:id="rId13"/>
    <p:sldId id="268" r:id="rId14"/>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047C4A6-0EEE-440F-8579-B05213C24B13}" v="43" dt="2026-05-13T16:40:29.6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1426"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hinav saini" userId="983e9a5cba92031e" providerId="LiveId" clId="{95A47D44-A6F2-4083-BA07-CAA32424D2B0}"/>
    <pc:docChg chg="custSel modSld">
      <pc:chgData name="Abhinav saini" userId="983e9a5cba92031e" providerId="LiveId" clId="{95A47D44-A6F2-4083-BA07-CAA32424D2B0}" dt="2026-05-13T16:40:46.555" v="211" actId="403"/>
      <pc:docMkLst>
        <pc:docMk/>
      </pc:docMkLst>
      <pc:sldChg chg="modSp mod">
        <pc:chgData name="Abhinav saini" userId="983e9a5cba92031e" providerId="LiveId" clId="{95A47D44-A6F2-4083-BA07-CAA32424D2B0}" dt="2026-05-13T16:40:46.555" v="211" actId="403"/>
        <pc:sldMkLst>
          <pc:docMk/>
          <pc:sldMk cId="0" sldId="256"/>
        </pc:sldMkLst>
        <pc:spChg chg="mod">
          <ac:chgData name="Abhinav saini" userId="983e9a5cba92031e" providerId="LiveId" clId="{95A47D44-A6F2-4083-BA07-CAA32424D2B0}" dt="2026-05-13T16:40:46.555" v="211" actId="403"/>
          <ac:spMkLst>
            <pc:docMk/>
            <pc:sldMk cId="0" sldId="256"/>
            <ac:spMk id="4" creationId="{00000000-0000-0000-0000-000000000000}"/>
          </ac:spMkLst>
        </pc:spChg>
      </pc:sldChg>
      <pc:sldChg chg="modSp mod">
        <pc:chgData name="Abhinav saini" userId="983e9a5cba92031e" providerId="LiveId" clId="{95A47D44-A6F2-4083-BA07-CAA32424D2B0}" dt="2026-05-03T20:03:17.275" v="193" actId="403"/>
        <pc:sldMkLst>
          <pc:docMk/>
          <pc:sldMk cId="0" sldId="257"/>
        </pc:sldMkLst>
        <pc:spChg chg="mod">
          <ac:chgData name="Abhinav saini" userId="983e9a5cba92031e" providerId="LiveId" clId="{95A47D44-A6F2-4083-BA07-CAA32424D2B0}" dt="2026-05-03T20:03:17.275" v="193" actId="403"/>
          <ac:spMkLst>
            <pc:docMk/>
            <pc:sldMk cId="0" sldId="257"/>
            <ac:spMk id="5" creationId="{00000000-0000-0000-0000-000000000000}"/>
          </ac:spMkLst>
        </pc:spChg>
      </pc:sldChg>
      <pc:sldChg chg="modSp mod">
        <pc:chgData name="Abhinav saini" userId="983e9a5cba92031e" providerId="LiveId" clId="{95A47D44-A6F2-4083-BA07-CAA32424D2B0}" dt="2026-05-03T19:55:11.039" v="48" actId="20577"/>
        <pc:sldMkLst>
          <pc:docMk/>
          <pc:sldMk cId="688233573" sldId="269"/>
        </pc:sldMkLst>
        <pc:spChg chg="mod">
          <ac:chgData name="Abhinav saini" userId="983e9a5cba92031e" providerId="LiveId" clId="{95A47D44-A6F2-4083-BA07-CAA32424D2B0}" dt="2026-05-03T19:55:11.039" v="48" actId="20577"/>
          <ac:spMkLst>
            <pc:docMk/>
            <pc:sldMk cId="688233573" sldId="269"/>
            <ac:spMk id="4" creationId="{2EA55B31-4F1F-B4B2-F83C-D53C041C6BCD}"/>
          </ac:spMkLst>
        </pc:spChg>
      </pc:sldChg>
      <pc:sldChg chg="modSp mod">
        <pc:chgData name="Abhinav saini" userId="983e9a5cba92031e" providerId="LiveId" clId="{95A47D44-A6F2-4083-BA07-CAA32424D2B0}" dt="2026-05-03T20:03:12.079" v="192" actId="403"/>
        <pc:sldMkLst>
          <pc:docMk/>
          <pc:sldMk cId="3041078539" sldId="270"/>
        </pc:sldMkLst>
        <pc:spChg chg="mod">
          <ac:chgData name="Abhinav saini" userId="983e9a5cba92031e" providerId="LiveId" clId="{95A47D44-A6F2-4083-BA07-CAA32424D2B0}" dt="2026-05-03T20:03:12.079" v="192" actId="403"/>
          <ac:spMkLst>
            <pc:docMk/>
            <pc:sldMk cId="3041078539" sldId="270"/>
            <ac:spMk id="4" creationId="{D14D9DDB-74E4-F5D2-B4AE-1ED13496187E}"/>
          </ac:spMkLst>
        </pc:spChg>
      </pc:sldChg>
      <pc:sldChg chg="modSp mod">
        <pc:chgData name="Abhinav saini" userId="983e9a5cba92031e" providerId="LiveId" clId="{95A47D44-A6F2-4083-BA07-CAA32424D2B0}" dt="2026-05-03T20:00:58.699" v="182" actId="404"/>
        <pc:sldMkLst>
          <pc:docMk/>
          <pc:sldMk cId="2943969810" sldId="273"/>
        </pc:sldMkLst>
        <pc:spChg chg="mod">
          <ac:chgData name="Abhinav saini" userId="983e9a5cba92031e" providerId="LiveId" clId="{95A47D44-A6F2-4083-BA07-CAA32424D2B0}" dt="2026-05-03T20:00:58.699" v="182" actId="404"/>
          <ac:spMkLst>
            <pc:docMk/>
            <pc:sldMk cId="2943969810" sldId="273"/>
            <ac:spMk id="4" creationId="{6D25BA9B-4A7E-7D9A-8B82-E814C9B315D4}"/>
          </ac:spMkLst>
        </pc:spChg>
      </pc:sldChg>
      <pc:sldChg chg="modSp mod">
        <pc:chgData name="Abhinav saini" userId="983e9a5cba92031e" providerId="LiveId" clId="{95A47D44-A6F2-4083-BA07-CAA32424D2B0}" dt="2026-05-03T20:02:41.909" v="191" actId="20577"/>
        <pc:sldMkLst>
          <pc:docMk/>
          <pc:sldMk cId="110029057" sldId="274"/>
        </pc:sldMkLst>
        <pc:spChg chg="mod">
          <ac:chgData name="Abhinav saini" userId="983e9a5cba92031e" providerId="LiveId" clId="{95A47D44-A6F2-4083-BA07-CAA32424D2B0}" dt="2026-05-03T20:02:41.909" v="191" actId="20577"/>
          <ac:spMkLst>
            <pc:docMk/>
            <pc:sldMk cId="110029057" sldId="274"/>
            <ac:spMk id="3" creationId="{3FAE159F-68EC-5E12-3A91-9CF5A9ADBEC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5/13/2026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5/13/2026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itkar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6DDB5-D18D-1374-00F7-A254A9F6EAAB}"/>
              </a:ext>
            </a:extLst>
          </p:cNvPr>
          <p:cNvSpPr>
            <a:spLocks noGrp="1"/>
          </p:cNvSpPr>
          <p:nvPr>
            <p:ph type="title"/>
          </p:nvPr>
        </p:nvSpPr>
        <p:spPr/>
        <p:txBody>
          <a:body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16E2036B-9DA1-37E6-A576-12F67BADC6FA}"/>
              </a:ext>
            </a:extLst>
          </p:cNvPr>
          <p:cNvSpPr>
            <a:spLocks noGrp="1"/>
          </p:cNvSpPr>
          <p:nvPr>
            <p:ph type="dt" idx="10"/>
          </p:nvPr>
        </p:nvSpPr>
        <p:spPr>
          <a:xfrm>
            <a:off x="69633" y="6562107"/>
            <a:ext cx="2133360" cy="364680"/>
          </a:xfrm>
        </p:spPr>
        <p:txBody>
          <a:bodyPr/>
          <a:lstStyle/>
          <a:p>
            <a:pPr>
              <a:lnSpc>
                <a:spcPct val="100000"/>
              </a:lnSpc>
            </a:pPr>
            <a:fld id="{94037556-9E8A-4092-B698-C7B51BCB8D66}" type="datetime1">
              <a:rPr lang="en-US" sz="1200" b="0" strike="noStrike" spc="-1" smtClean="0">
                <a:latin typeface="Times New Roman"/>
              </a:rPr>
              <a:t>5/13/2026</a:t>
            </a:fld>
            <a:endParaRPr lang="en-GB" sz="1200" b="0" strike="noStrike" spc="-1">
              <a:latin typeface="Times New Roman"/>
            </a:endParaRPr>
          </a:p>
        </p:txBody>
      </p:sp>
      <p:sp>
        <p:nvSpPr>
          <p:cNvPr id="4" name="Footer Placeholder 3">
            <a:extLst>
              <a:ext uri="{FF2B5EF4-FFF2-40B4-BE49-F238E27FC236}">
                <a16:creationId xmlns:a16="http://schemas.microsoft.com/office/drawing/2014/main" id="{EA466EA5-0EC7-9480-2156-C28EAD7D33EE}"/>
              </a:ext>
            </a:extLst>
          </p:cNvPr>
          <p:cNvSpPr>
            <a:spLocks noGrp="1"/>
          </p:cNvSpPr>
          <p:nvPr>
            <p:ph type="ftr" idx="11"/>
          </p:nvPr>
        </p:nvSpPr>
        <p:spPr>
          <a:xfrm>
            <a:off x="3124079" y="6566396"/>
            <a:ext cx="3577504" cy="364680"/>
          </a:xfrm>
        </p:spPr>
        <p:txBody>
          <a:bodyPr/>
          <a:lstStyle/>
          <a:p>
            <a:r>
              <a:rPr lang="en-US" spc="-1">
                <a:latin typeface="Times New Roman"/>
              </a:rPr>
              <a:t>CO-OP project at Industry (Module-1)/22CS411</a:t>
            </a:r>
            <a:endParaRPr lang="en-GB" sz="1200" spc="-1" dirty="0">
              <a:latin typeface="Times New Roman"/>
            </a:endParaRPr>
          </a:p>
        </p:txBody>
      </p:sp>
      <p:sp>
        <p:nvSpPr>
          <p:cNvPr id="5" name="Slide Number Placeholder 4">
            <a:extLst>
              <a:ext uri="{FF2B5EF4-FFF2-40B4-BE49-F238E27FC236}">
                <a16:creationId xmlns:a16="http://schemas.microsoft.com/office/drawing/2014/main" id="{7CEBDB50-CE80-19E7-5B74-8A9B3ADBFE68}"/>
              </a:ext>
            </a:extLst>
          </p:cNvPr>
          <p:cNvSpPr>
            <a:spLocks noGrp="1"/>
          </p:cNvSpPr>
          <p:nvPr>
            <p:ph type="sldNum" idx="12"/>
          </p:nvPr>
        </p:nvSpPr>
        <p:spPr>
          <a:xfrm>
            <a:off x="7010640" y="6562107"/>
            <a:ext cx="2133360" cy="364680"/>
          </a:xfrm>
        </p:spPr>
        <p:txBody>
          <a:bodyPr/>
          <a:lstStyle/>
          <a:p>
            <a:pPr algn="r">
              <a:lnSpc>
                <a:spcPct val="100000"/>
              </a:lnSpc>
            </a:pPr>
            <a:fld id="{1CFDC92E-FF5D-4613-8499-B15BC16E50D9}" type="slidenum">
              <a:rPr lang="en-US" sz="1200" b="0" strike="noStrike" spc="-1" smtClean="0">
                <a:solidFill>
                  <a:srgbClr val="898989"/>
                </a:solidFill>
                <a:latin typeface="Calibri"/>
                <a:ea typeface="MS PGothic"/>
              </a:rPr>
              <a:pPr algn="r">
                <a:lnSpc>
                  <a:spcPct val="100000"/>
                </a:lnSpc>
              </a:pPr>
              <a:t>‹#›</a:t>
            </a:fld>
            <a:endParaRPr lang="en-GB" sz="1200" b="0" strike="noStrike" spc="-1" dirty="0">
              <a:latin typeface="Times New Roman"/>
            </a:endParaRPr>
          </a:p>
        </p:txBody>
      </p:sp>
    </p:spTree>
    <p:extLst>
      <p:ext uri="{BB962C8B-B14F-4D97-AF65-F5344CB8AC3E}">
        <p14:creationId xmlns:p14="http://schemas.microsoft.com/office/powerpoint/2010/main" val="2158773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itkara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6DDB5-D18D-1374-00F7-A254A9F6EAAB}"/>
              </a:ext>
            </a:extLst>
          </p:cNvPr>
          <p:cNvSpPr>
            <a:spLocks noGrp="1"/>
          </p:cNvSpPr>
          <p:nvPr>
            <p:ph type="title"/>
          </p:nvPr>
        </p:nvSpPr>
        <p:spPr/>
        <p:txBody>
          <a:body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16E2036B-9DA1-37E6-A576-12F67BADC6FA}"/>
              </a:ext>
            </a:extLst>
          </p:cNvPr>
          <p:cNvSpPr>
            <a:spLocks noGrp="1"/>
          </p:cNvSpPr>
          <p:nvPr>
            <p:ph type="dt" idx="10"/>
          </p:nvPr>
        </p:nvSpPr>
        <p:spPr>
          <a:xfrm>
            <a:off x="69633" y="6562107"/>
            <a:ext cx="2133360" cy="36468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037556-9E8A-4092-B698-C7B51BCB8D66}" type="datetime1">
              <a:rPr kumimoji="0" lang="en-US" sz="1200" b="0" i="0" u="none" strike="noStrike" kern="1200" cap="none" spc="-1" normalizeH="0" baseline="0" noProof="0" smtClean="0">
                <a:ln>
                  <a:noFill/>
                </a:ln>
                <a:solidFill>
                  <a:prstClr val="black"/>
                </a:solidFill>
                <a:effectLst/>
                <a:uLnTx/>
                <a:uFillTx/>
                <a:latin typeface="Times New Roman"/>
              </a:rPr>
              <a:pPr marL="0" marR="0" lvl="0" indent="0" algn="l" defTabSz="914400" rtl="0" eaLnBrk="1" fontAlgn="auto" latinLnBrk="0" hangingPunct="1">
                <a:lnSpc>
                  <a:spcPct val="100000"/>
                </a:lnSpc>
                <a:spcBef>
                  <a:spcPts val="0"/>
                </a:spcBef>
                <a:spcAft>
                  <a:spcPts val="0"/>
                </a:spcAft>
                <a:buClrTx/>
                <a:buSzTx/>
                <a:buFontTx/>
                <a:buNone/>
                <a:tabLst/>
                <a:defRPr/>
              </a:pPr>
              <a:t>5/13/2026</a:t>
            </a:fld>
            <a:endParaRPr kumimoji="0" lang="en-GB" sz="1200" b="0" i="0" u="none" strike="noStrike" kern="1200" cap="none" spc="-1" normalizeH="0" baseline="0" noProof="0">
              <a:ln>
                <a:noFill/>
              </a:ln>
              <a:solidFill>
                <a:prstClr val="black"/>
              </a:solidFill>
              <a:effectLst/>
              <a:uLnTx/>
              <a:uFillTx/>
              <a:latin typeface="Times New Roman"/>
            </a:endParaRPr>
          </a:p>
        </p:txBody>
      </p:sp>
      <p:sp>
        <p:nvSpPr>
          <p:cNvPr id="4" name="Footer Placeholder 3">
            <a:extLst>
              <a:ext uri="{FF2B5EF4-FFF2-40B4-BE49-F238E27FC236}">
                <a16:creationId xmlns:a16="http://schemas.microsoft.com/office/drawing/2014/main" id="{EA466EA5-0EC7-9480-2156-C28EAD7D33EE}"/>
              </a:ext>
            </a:extLst>
          </p:cNvPr>
          <p:cNvSpPr>
            <a:spLocks noGrp="1"/>
          </p:cNvSpPr>
          <p:nvPr>
            <p:ph type="ftr" idx="11"/>
          </p:nvPr>
        </p:nvSpPr>
        <p:spPr>
          <a:xfrm>
            <a:off x="3124079" y="6566396"/>
            <a:ext cx="3577504" cy="364680"/>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 normalizeH="0" baseline="0" noProof="0">
                <a:ln>
                  <a:noFill/>
                </a:ln>
                <a:solidFill>
                  <a:prstClr val="black"/>
                </a:solidFill>
                <a:effectLst/>
                <a:uLnTx/>
                <a:uFillTx/>
                <a:latin typeface="Times New Roman"/>
              </a:rPr>
              <a:t>CO-OP project at Industry (Module-1)/22CS411</a:t>
            </a:r>
            <a:endParaRPr kumimoji="0" lang="en-GB" sz="1200" b="0" i="0" u="none" strike="noStrike" kern="1200" cap="none" spc="-1" normalizeH="0" baseline="0" noProof="0" dirty="0">
              <a:ln>
                <a:noFill/>
              </a:ln>
              <a:solidFill>
                <a:prstClr val="black"/>
              </a:solidFill>
              <a:effectLst/>
              <a:uLnTx/>
              <a:uFillTx/>
              <a:latin typeface="Times New Roman"/>
            </a:endParaRPr>
          </a:p>
        </p:txBody>
      </p:sp>
      <p:sp>
        <p:nvSpPr>
          <p:cNvPr id="5" name="Slide Number Placeholder 4">
            <a:extLst>
              <a:ext uri="{FF2B5EF4-FFF2-40B4-BE49-F238E27FC236}">
                <a16:creationId xmlns:a16="http://schemas.microsoft.com/office/drawing/2014/main" id="{7CEBDB50-CE80-19E7-5B74-8A9B3ADBFE68}"/>
              </a:ext>
            </a:extLst>
          </p:cNvPr>
          <p:cNvSpPr>
            <a:spLocks noGrp="1"/>
          </p:cNvSpPr>
          <p:nvPr>
            <p:ph type="sldNum" idx="12"/>
          </p:nvPr>
        </p:nvSpPr>
        <p:spPr>
          <a:xfrm>
            <a:off x="7010640" y="6562107"/>
            <a:ext cx="2133360" cy="36468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FDC92E-FF5D-4613-8499-B15BC16E50D9}" type="slidenum">
              <a:rPr kumimoji="0" lang="en-US" sz="1200" b="0" i="0" u="none" strike="noStrike" kern="1200" cap="none" spc="-1" normalizeH="0" baseline="0" noProof="0" smtClean="0">
                <a:ln>
                  <a:noFill/>
                </a:ln>
                <a:solidFill>
                  <a:srgbClr val="898989"/>
                </a:solidFill>
                <a:effectLst/>
                <a:uLnTx/>
                <a:uFillTx/>
                <a:latin typeface="Calibri"/>
                <a:ea typeface="MS PGothic"/>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1" normalizeH="0" baseline="0" noProof="0" dirty="0">
              <a:ln>
                <a:noFill/>
              </a:ln>
              <a:solidFill>
                <a:prstClr val="black"/>
              </a:solidFill>
              <a:effectLst/>
              <a:uLnTx/>
              <a:uFillTx/>
              <a:latin typeface="Times New Roman"/>
            </a:endParaRPr>
          </a:p>
        </p:txBody>
      </p:sp>
    </p:spTree>
    <p:extLst>
      <p:ext uri="{BB962C8B-B14F-4D97-AF65-F5344CB8AC3E}">
        <p14:creationId xmlns:p14="http://schemas.microsoft.com/office/powerpoint/2010/main" val="22149020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4.xml"/><Relationship Id="rId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endParaRPr lang="en-IN"/>
          </a:p>
        </p:txBody>
      </p:sp>
      <p:pic>
        <p:nvPicPr>
          <p:cNvPr id="2" name="Picture 10" descr="LOGO.gif"/>
          <p:cNvPicPr/>
          <p:nvPr/>
        </p:nvPicPr>
        <p:blipFill>
          <a:blip r:embed="rId5"/>
          <a:srcRect b="10718"/>
          <a:stretch/>
        </p:blipFill>
        <p:spPr>
          <a:xfrm>
            <a:off x="6553080" y="228600"/>
            <a:ext cx="2057040" cy="634680"/>
          </a:xfrm>
          <a:prstGeom prst="rect">
            <a:avLst/>
          </a:prstGeom>
          <a:ln w="9360">
            <a:noFill/>
          </a:ln>
        </p:spPr>
      </p:pic>
      <p:pic>
        <p:nvPicPr>
          <p:cNvPr id="3" name="Picture 10" descr="LOGO.gif"/>
          <p:cNvPicPr/>
          <p:nvPr/>
        </p:nvPicPr>
        <p:blipFill>
          <a:blip r:embed="rId5"/>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6" name="Picture 9" descr="LOGO.gif"/>
            <p:cNvPicPr/>
            <p:nvPr/>
          </p:nvPicPr>
          <p:blipFill>
            <a:blip r:embed="rId5"/>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8" name="Picture 15" descr="logo.jpg"/>
          <p:cNvPicPr/>
          <p:nvPr/>
        </p:nvPicPr>
        <p:blipFill>
          <a:blip r:embed="rId6"/>
          <a:stretch/>
        </p:blipFill>
        <p:spPr>
          <a:xfrm>
            <a:off x="6553080" y="228600"/>
            <a:ext cx="1920600" cy="609120"/>
          </a:xfrm>
          <a:prstGeom prst="rect">
            <a:avLst/>
          </a:prstGeom>
          <a:ln w="9360">
            <a:noFill/>
          </a:ln>
        </p:spPr>
      </p:pic>
      <p:pic>
        <p:nvPicPr>
          <p:cNvPr id="9" name="Picture 10" descr="LOGO.gif"/>
          <p:cNvPicPr/>
          <p:nvPr/>
        </p:nvPicPr>
        <p:blipFill>
          <a:blip r:embed="rId5"/>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endParaRPr lang="en-IN"/>
            </a:p>
          </p:txBody>
        </p:sp>
        <p:pic>
          <p:nvPicPr>
            <p:cNvPr id="12" name="Picture 9" descr="LOGO.gif"/>
            <p:cNvPicPr/>
            <p:nvPr/>
          </p:nvPicPr>
          <p:blipFill>
            <a:blip r:embed="rId5"/>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N"/>
            </a:p>
          </p:txBody>
        </p:sp>
      </p:grpSp>
      <p:pic>
        <p:nvPicPr>
          <p:cNvPr id="14" name="Picture 15" descr="logo.jpg"/>
          <p:cNvPicPr/>
          <p:nvPr/>
        </p:nvPicPr>
        <p:blipFill>
          <a:blip r:embed="rId6"/>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fld id="{3D964FCB-4B12-48F3-8EC8-4E7C43142726}" type="datetime1">
              <a:rPr lang="en-US" sz="1200" b="0" strike="noStrike" spc="-1" smtClean="0">
                <a:latin typeface="Times New Roman"/>
              </a:rPr>
              <a:t>5/13/2026</a:t>
            </a:fld>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lvl1pPr>
              <a:defRPr sz="1200"/>
            </a:lvl1pPr>
          </a:lstStyle>
          <a:p>
            <a:r>
              <a:rPr lang="en-US" spc="-1" dirty="0">
                <a:latin typeface="Times New Roman"/>
              </a:rPr>
              <a:t>CO-OP project at Industry (Module-1)/22CS411</a:t>
            </a:r>
            <a:endParaRPr lang="en-GB" sz="1200" spc="-1" dirty="0">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dirty="0">
              <a:latin typeface="Times New Roman"/>
            </a:endParaRPr>
          </a:p>
        </p:txBody>
      </p:sp>
    </p:spTree>
  </p:cSld>
  <p:clrMap bg1="lt1" tx1="dk1" bg2="lt2" tx2="dk2" accent1="accent1" accent2="accent2" accent3="accent3" accent4="accent4" accent5="accent5" accent6="accent6" hlink="hlink" folHlink="folHlink"/>
  <p:sldLayoutIdLst>
    <p:sldLayoutId id="2147483673" r:id="rId1"/>
    <p:sldLayoutId id="2147483649" r:id="rId2"/>
    <p:sldLayoutId id="2147483650" r:id="rId3"/>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pic>
        <p:nvPicPr>
          <p:cNvPr id="2" name="Picture 10" descr="LOGO.gif"/>
          <p:cNvPicPr/>
          <p:nvPr/>
        </p:nvPicPr>
        <p:blipFill>
          <a:blip r:embed="rId3"/>
          <a:srcRect b="10718"/>
          <a:stretch/>
        </p:blipFill>
        <p:spPr>
          <a:xfrm>
            <a:off x="6553080" y="228600"/>
            <a:ext cx="2057040" cy="634680"/>
          </a:xfrm>
          <a:prstGeom prst="rect">
            <a:avLst/>
          </a:prstGeom>
          <a:ln w="9360">
            <a:noFill/>
          </a:ln>
        </p:spPr>
      </p:pic>
      <p:pic>
        <p:nvPicPr>
          <p:cNvPr id="3" name="Picture 10" descr="LOGO.gif"/>
          <p:cNvPicPr/>
          <p:nvPr/>
        </p:nvPicPr>
        <p:blipFill>
          <a:blip r:embed="rId3"/>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pic>
          <p:nvPicPr>
            <p:cNvPr id="6" name="Picture 9" descr="LOGO.gif"/>
            <p:cNvPicPr/>
            <p:nvPr/>
          </p:nvPicPr>
          <p:blipFill>
            <a:blip r:embed="rId3"/>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grpSp>
      <p:pic>
        <p:nvPicPr>
          <p:cNvPr id="8" name="Picture 15" descr="logo.jpg"/>
          <p:cNvPicPr/>
          <p:nvPr/>
        </p:nvPicPr>
        <p:blipFill>
          <a:blip r:embed="rId4"/>
          <a:stretch/>
        </p:blipFill>
        <p:spPr>
          <a:xfrm>
            <a:off x="6553080" y="228600"/>
            <a:ext cx="1920600" cy="609120"/>
          </a:xfrm>
          <a:prstGeom prst="rect">
            <a:avLst/>
          </a:prstGeom>
          <a:ln w="9360">
            <a:noFill/>
          </a:ln>
        </p:spPr>
      </p:pic>
      <p:pic>
        <p:nvPicPr>
          <p:cNvPr id="9" name="Picture 10" descr="LOGO.gif"/>
          <p:cNvPicPr/>
          <p:nvPr/>
        </p:nvPicPr>
        <p:blipFill>
          <a:blip r:embed="rId3"/>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pic>
          <p:nvPicPr>
            <p:cNvPr id="12" name="Picture 9" descr="LOGO.gif"/>
            <p:cNvPicPr/>
            <p:nvPr/>
          </p:nvPicPr>
          <p:blipFill>
            <a:blip r:embed="rId3"/>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rial"/>
              </a:endParaRPr>
            </a:p>
          </p:txBody>
        </p:sp>
      </p:grpSp>
      <p:pic>
        <p:nvPicPr>
          <p:cNvPr id="14" name="Picture 15" descr="logo.jpg"/>
          <p:cNvPicPr/>
          <p:nvPr/>
        </p:nvPicPr>
        <p:blipFill>
          <a:blip r:embed="rId4"/>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a:solidFill>
                  <a:srgbClr val="000000"/>
                </a:solidFill>
                <a:latin typeface="Calibri"/>
                <a:ea typeface="MS PGothic"/>
              </a:rPr>
              <a:t>Click to edit Master title style</a:t>
            </a:r>
            <a:endParaRPr lang="en-US" sz="3000" b="0" strike="noStrike" spc="-1">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D964FCB-4B12-48F3-8EC8-4E7C43142726}" type="datetime1">
              <a:rPr kumimoji="0" lang="en-US" sz="1200" b="0" i="0" u="none" strike="noStrike" kern="1200" cap="none" spc="-1" normalizeH="0" baseline="0" noProof="0" smtClean="0">
                <a:ln>
                  <a:noFill/>
                </a:ln>
                <a:solidFill>
                  <a:prstClr val="black"/>
                </a:solidFill>
                <a:effectLst/>
                <a:uLnTx/>
                <a:uFillTx/>
                <a:latin typeface="Times New Roman"/>
              </a:rPr>
              <a:pPr marL="0" marR="0" lvl="0" indent="0" algn="l" defTabSz="914400" rtl="0" eaLnBrk="1" fontAlgn="auto" latinLnBrk="0" hangingPunct="1">
                <a:lnSpc>
                  <a:spcPct val="100000"/>
                </a:lnSpc>
                <a:spcBef>
                  <a:spcPts val="0"/>
                </a:spcBef>
                <a:spcAft>
                  <a:spcPts val="0"/>
                </a:spcAft>
                <a:buClrTx/>
                <a:buSzTx/>
                <a:buFontTx/>
                <a:buNone/>
                <a:tabLst/>
                <a:defRPr/>
              </a:pPr>
              <a:t>5/13/2026</a:t>
            </a:fld>
            <a:endParaRPr kumimoji="0" lang="en-GB" sz="1200" b="0" i="0" u="none" strike="noStrike" kern="1200" cap="none" spc="-1" normalizeH="0" baseline="0" noProof="0">
              <a:ln>
                <a:noFill/>
              </a:ln>
              <a:solidFill>
                <a:prstClr val="black"/>
              </a:solidFill>
              <a:effectLst/>
              <a:uLnTx/>
              <a:uFillTx/>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lvl1pPr>
              <a:defRPr sz="1200"/>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 normalizeH="0" baseline="0" noProof="0" dirty="0">
                <a:ln>
                  <a:noFill/>
                </a:ln>
                <a:solidFill>
                  <a:prstClr val="black"/>
                </a:solidFill>
                <a:effectLst/>
                <a:uLnTx/>
                <a:uFillTx/>
                <a:latin typeface="Times New Roman"/>
              </a:rPr>
              <a:t>CO-OP project at Industry (Module-1)/22CS411</a:t>
            </a:r>
            <a:endParaRPr kumimoji="0" lang="en-GB" sz="1200" b="0" i="0" u="none" strike="noStrike" kern="1200" cap="none" spc="-1" normalizeH="0" baseline="0" noProof="0" dirty="0">
              <a:ln>
                <a:noFill/>
              </a:ln>
              <a:solidFill>
                <a:prstClr val="black"/>
              </a:solidFill>
              <a:effectLst/>
              <a:uLnTx/>
              <a:uFillTx/>
              <a:latin typeface="Times New Roman"/>
            </a:endParaRP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CFDC92E-FF5D-4613-8499-B15BC16E50D9}" type="slidenum">
              <a:rPr kumimoji="0" lang="en-US" sz="1200" b="0" i="0" u="none" strike="noStrike" kern="1200" cap="none" spc="-1" normalizeH="0" baseline="0" noProof="0">
                <a:ln>
                  <a:noFill/>
                </a:ln>
                <a:solidFill>
                  <a:srgbClr val="898989"/>
                </a:solidFill>
                <a:effectLst/>
                <a:uLnTx/>
                <a:uFillTx/>
                <a:latin typeface="Calibri"/>
                <a:ea typeface="MS PGothic"/>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1" normalizeH="0" baseline="0" noProof="0" dirty="0">
              <a:ln>
                <a:noFill/>
              </a:ln>
              <a:solidFill>
                <a:prstClr val="black"/>
              </a:solidFill>
              <a:effectLst/>
              <a:uLnTx/>
              <a:uFillTx/>
              <a:latin typeface="Times New Roman"/>
            </a:endParaRPr>
          </a:p>
        </p:txBody>
      </p:sp>
    </p:spTree>
    <p:extLst>
      <p:ext uri="{BB962C8B-B14F-4D97-AF65-F5344CB8AC3E}">
        <p14:creationId xmlns:p14="http://schemas.microsoft.com/office/powerpoint/2010/main" val="2305265420"/>
      </p:ext>
    </p:extLst>
  </p:cSld>
  <p:clrMap bg1="lt1" tx1="dk1" bg2="lt2" tx2="dk2" accent1="accent1" accent2="accent2" accent3="accent3" accent4="accent4" accent5="accent5" accent6="accent6" hlink="hlink" folHlink="folHlink"/>
  <p:sldLayoutIdLst>
    <p:sldLayoutId id="2147483675" r:id="rId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31487"/>
            <a:ext cx="9144000" cy="5717485"/>
          </a:xfrm>
          <a:prstGeom prst="rect">
            <a:avLst/>
          </a:prstGeom>
          <a:noFill/>
          <a:ln w="9360">
            <a:noFill/>
          </a:ln>
        </p:spPr>
        <p:txBody>
          <a:bodyPr>
            <a:noAutofit/>
          </a:bodyPr>
          <a:lstStyle/>
          <a:p>
            <a:pPr algn="ctr">
              <a:spcBef>
                <a:spcPts val="400"/>
              </a:spcBef>
            </a:pPr>
            <a:r>
              <a:rPr lang="en-US" dirty="0">
                <a:latin typeface="Times New Roman" panose="02020603050405020304" pitchFamily="18" charset="0"/>
                <a:ea typeface="Calibri" pitchFamily="34" charset="-122"/>
                <a:cs typeface="Times New Roman" panose="02020603050405020304" pitchFamily="18" charset="0"/>
              </a:rPr>
              <a:t>Project Presentation of CO-OP Project at Industry (Module-2) (22CS421)</a:t>
            </a:r>
          </a:p>
          <a:p>
            <a:pPr algn="ctr">
              <a:spcBef>
                <a:spcPts val="400"/>
              </a:spcBef>
            </a:pPr>
            <a:r>
              <a:rPr lang="en-US" dirty="0">
                <a:latin typeface="Times New Roman" panose="02020603050405020304" pitchFamily="18" charset="0"/>
                <a:ea typeface="Calibri" pitchFamily="34" charset="-122"/>
                <a:cs typeface="Times New Roman" panose="02020603050405020304" pitchFamily="18" charset="0"/>
              </a:rPr>
              <a:t>On</a:t>
            </a:r>
          </a:p>
          <a:p>
            <a:pPr algn="ctr">
              <a:spcBef>
                <a:spcPts val="400"/>
              </a:spcBef>
            </a:pPr>
            <a:r>
              <a:rPr lang="en-US" sz="4000" dirty="0">
                <a:latin typeface="Calibri" pitchFamily="34" charset="0"/>
                <a:ea typeface="Calibri" pitchFamily="34" charset="-122"/>
                <a:cs typeface="Calibri" pitchFamily="34" charset="-120"/>
              </a:rPr>
              <a:t>Warehouse Management System</a:t>
            </a:r>
            <a:endParaRPr lang="en-US" sz="4000" dirty="0"/>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t>Abhinav Saini</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2210990039</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Mr. Saksham , Director , Technogetic Pvt. Ltd.</a:t>
            </a: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769390" y="6592494"/>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dirty="0">
              <a:latin typeface="Times New Roman"/>
            </a:endParaRPr>
          </a:p>
        </p:txBody>
      </p:sp>
      <p:sp>
        <p:nvSpPr>
          <p:cNvPr id="5" name="TextShape 2"/>
          <p:cNvSpPr txBox="1"/>
          <p:nvPr/>
        </p:nvSpPr>
        <p:spPr>
          <a:xfrm>
            <a:off x="305280" y="1228614"/>
            <a:ext cx="8838720" cy="4838571"/>
          </a:xfrm>
          <a:prstGeom prst="rect">
            <a:avLst/>
          </a:prstGeom>
          <a:noFill/>
          <a:ln w="9360">
            <a:noFill/>
          </a:ln>
        </p:spPr>
        <p:txBody>
          <a:bodyPr>
            <a:noAutofit/>
          </a:bodyPr>
          <a:lstStyle/>
          <a:p>
            <a:pPr>
              <a:lnSpc>
                <a:spcPct val="100000"/>
              </a:lnSpc>
              <a:spcBef>
                <a:spcPts val="400"/>
              </a:spcBef>
            </a:pPr>
            <a:endParaRPr lang="en-US" sz="2000"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r>
              <a:rPr lang="en-US" dirty="0">
                <a:latin typeface="Times New Roman" panose="02020603050405020304" pitchFamily="18" charset="0"/>
                <a:cs typeface="Times New Roman" panose="02020603050405020304" pitchFamily="18" charset="0"/>
              </a:rPr>
              <a:t>Modern warehouses face serious challenges that significantly hinder operational efficiency. Manual inventory tracking is prone to human error, leading to stock discrepancies, misplaced items, and inaccurate stock counts that can disrupt the entire supply chain. The absence of real-time visibility into stock levels causes critical operational delays — warehouse managers often make decisions based on outdated data, resulting in overstocking, stockouts, and missed sales opportunities. From stock management and sales processing to automated email notifications and secure user access, a modern Warehouse Management System transforms traditional, paper-based warehouse operations into a streamlined, efficient, and scalable digital ecosystem.</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5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endParaRPr lang="en-US" sz="2000" b="0" strike="noStrike" spc="-1" dirty="0">
              <a:solidFill>
                <a:srgbClr val="000000"/>
              </a:solidFill>
              <a:latin typeface="Times New Roman" panose="02020603050405020304" pitchFamily="18" charset="0"/>
              <a:cs typeface="Times New Roman" panose="02020603050405020304" pitchFamily="18" charset="0"/>
            </a:endParaRPr>
          </a:p>
          <a:p>
            <a:pPr>
              <a:lnSpc>
                <a:spcPct val="100000"/>
              </a:lnSpc>
              <a:spcBef>
                <a:spcPts val="400"/>
              </a:spcBef>
            </a:pPr>
            <a:r>
              <a:rPr lang="en-US" sz="2000" b="0" strike="noStrike" spc="-1" dirty="0">
                <a:solidFill>
                  <a:srgbClr val="000000"/>
                </a:solidFill>
                <a:latin typeface="Times New Roman" panose="02020603050405020304" pitchFamily="18" charset="0"/>
                <a:cs typeface="Times New Roman" panose="02020603050405020304" pitchFamily="18"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F9167-8193-88B0-2608-EA290FF499B4}"/>
              </a:ext>
            </a:extLst>
          </p:cNvPr>
          <p:cNvSpPr>
            <a:spLocks noGrp="1"/>
          </p:cNvSpPr>
          <p:nvPr>
            <p:ph type="title"/>
          </p:nvPr>
        </p:nvSpPr>
        <p:spPr/>
        <p:txBody>
          <a:bodyPr/>
          <a:lstStyle/>
          <a:p>
            <a:r>
              <a:rPr lang="en-US" dirty="0"/>
              <a:t>My Role</a:t>
            </a:r>
            <a:endParaRPr lang="en-IN" dirty="0"/>
          </a:p>
        </p:txBody>
      </p:sp>
      <p:sp>
        <p:nvSpPr>
          <p:cNvPr id="4" name="Subtitle 3">
            <a:extLst>
              <a:ext uri="{FF2B5EF4-FFF2-40B4-BE49-F238E27FC236}">
                <a16:creationId xmlns:a16="http://schemas.microsoft.com/office/drawing/2014/main" id="{D14D9DDB-74E4-F5D2-B4AE-1ED13496187E}"/>
              </a:ext>
            </a:extLst>
          </p:cNvPr>
          <p:cNvSpPr>
            <a:spLocks noGrp="1"/>
          </p:cNvSpPr>
          <p:nvPr>
            <p:ph type="subTitle"/>
          </p:nvPr>
        </p:nvSpPr>
        <p:spPr>
          <a:xfrm>
            <a:off x="457380" y="1549656"/>
            <a:ext cx="8229240" cy="3977280"/>
          </a:xfrm>
        </p:spPr>
        <p:txBody>
          <a:bodyPr/>
          <a:lstStyle/>
          <a:p>
            <a:r>
              <a:rPr lang="en-US" sz="2000" dirty="0">
                <a:latin typeface="Times New Roman" panose="02020603050405020304" pitchFamily="18" charset="0"/>
                <a:cs typeface="Times New Roman" panose="02020603050405020304" pitchFamily="18" charset="0"/>
              </a:rPr>
              <a:t>I am part of the development team, working on the development and enhancement of route optimization systems. My team is focused on designing and implementing solutions to determine the most efficient and cost-effective routes for logistics and transportation operations.</a:t>
            </a:r>
            <a:endParaRPr lang="en-US" sz="12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Currently, my main responsibility involves contributing to the development and enhancement of the core, service, and frontend components of our system. This includes:</a:t>
            </a:r>
          </a:p>
          <a:p>
            <a:pPr fontAlgn="base"/>
            <a:r>
              <a:rPr lang="en-US" sz="2000" dirty="0">
                <a:latin typeface="Times New Roman" panose="02020603050405020304" pitchFamily="18" charset="0"/>
                <a:cs typeface="Times New Roman" panose="02020603050405020304" pitchFamily="18" charset="0"/>
              </a:rPr>
              <a:t>Designing, developing, and optimizing core functionalities to improve system performance and reliability. Building and maintaining service layers to ensure smooth data flow and integration across modules.</a:t>
            </a:r>
          </a:p>
          <a:p>
            <a:pPr fontAlgn="base"/>
            <a:br>
              <a:rPr lang="en-US" sz="1200" dirty="0">
                <a:latin typeface="Times New Roman" panose="02020603050405020304" pitchFamily="18" charset="0"/>
                <a:cs typeface="Times New Roman" panose="02020603050405020304" pitchFamily="18" charset="0"/>
              </a:rPr>
            </a:br>
            <a:br>
              <a:rPr lang="en-US" sz="1200" dirty="0">
                <a:latin typeface="Times New Roman" panose="02020603050405020304" pitchFamily="18" charset="0"/>
                <a:cs typeface="Times New Roman" panose="02020603050405020304" pitchFamily="18" charset="0"/>
              </a:rPr>
            </a:b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1078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997C3-F948-7F83-5F39-83AFE231AC7F}"/>
              </a:ext>
            </a:extLst>
          </p:cNvPr>
          <p:cNvSpPr>
            <a:spLocks noGrp="1"/>
          </p:cNvSpPr>
          <p:nvPr>
            <p:ph type="title"/>
          </p:nvPr>
        </p:nvSpPr>
        <p:spPr/>
        <p:txBody>
          <a:bodyPr/>
          <a:lstStyle/>
          <a:p>
            <a:r>
              <a:rPr lang="en-IN" dirty="0"/>
              <a:t>METHODOLOGY</a:t>
            </a:r>
          </a:p>
        </p:txBody>
      </p:sp>
      <p:sp>
        <p:nvSpPr>
          <p:cNvPr id="3" name="Subtitle 2">
            <a:extLst>
              <a:ext uri="{FF2B5EF4-FFF2-40B4-BE49-F238E27FC236}">
                <a16:creationId xmlns:a16="http://schemas.microsoft.com/office/drawing/2014/main" id="{FE4BC8AA-BCB0-5CA9-E0BC-9C94387CE9B0}"/>
              </a:ext>
            </a:extLst>
          </p:cNvPr>
          <p:cNvSpPr>
            <a:spLocks noGrp="1"/>
          </p:cNvSpPr>
          <p:nvPr>
            <p:ph type="subTitle"/>
          </p:nvPr>
        </p:nvSpPr>
        <p:spPr>
          <a:xfrm>
            <a:off x="457380" y="1970280"/>
            <a:ext cx="8229240" cy="3977280"/>
          </a:xfrm>
        </p:spPr>
        <p:txBody>
          <a:bodyPr/>
          <a:lstStyle/>
          <a:p>
            <a:pPr marL="0" indent="0">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project is developed using the </a:t>
            </a:r>
            <a:r>
              <a:rPr lang="en-US" sz="2400" b="1" dirty="0">
                <a:latin typeface="Times New Roman" panose="02020603050405020304" pitchFamily="18" charset="0"/>
                <a:cs typeface="Times New Roman" panose="02020603050405020304" pitchFamily="18" charset="0"/>
              </a:rPr>
              <a:t>Agile methodology</a:t>
            </a:r>
            <a:r>
              <a:rPr lang="en-US" sz="2400" dirty="0">
                <a:latin typeface="Times New Roman" panose="02020603050405020304" pitchFamily="18" charset="0"/>
                <a:cs typeface="Times New Roman" panose="02020603050405020304" pitchFamily="18" charset="0"/>
              </a:rPr>
              <a:t>, which emphasizes iterative development, continuous feedback, and flexibility. The Agile approach allows the development team to break the project into smaller modules, implement features incrementally, and perform testing at each stage.</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Regular reviews and testing cycles ensure early detection of defects and improve overall product quality. Agile methodology also supports adaptability to changing requirements, making it suitable for dynamic software development projects</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1460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EB2EE-CEEA-A4EC-4F3B-60BA601304FE}"/>
              </a:ext>
            </a:extLst>
          </p:cNvPr>
          <p:cNvSpPr>
            <a:spLocks noGrp="1"/>
          </p:cNvSpPr>
          <p:nvPr>
            <p:ph type="title"/>
          </p:nvPr>
        </p:nvSpPr>
        <p:spPr/>
        <p:txBody>
          <a:bodyPr/>
          <a:lstStyle/>
          <a:p>
            <a:r>
              <a:rPr lang="en-IN" dirty="0"/>
              <a:t>Technologies used</a:t>
            </a:r>
          </a:p>
        </p:txBody>
      </p:sp>
      <p:sp>
        <p:nvSpPr>
          <p:cNvPr id="4" name="Rectangle 1">
            <a:extLst>
              <a:ext uri="{FF2B5EF4-FFF2-40B4-BE49-F238E27FC236}">
                <a16:creationId xmlns:a16="http://schemas.microsoft.com/office/drawing/2014/main" id="{2EA55B31-4F1F-B4B2-F83C-D53C041C6BCD}"/>
              </a:ext>
            </a:extLst>
          </p:cNvPr>
          <p:cNvSpPr>
            <a:spLocks noGrp="1" noChangeArrowheads="1"/>
          </p:cNvSpPr>
          <p:nvPr>
            <p:ph type="subTitle"/>
          </p:nvPr>
        </p:nvSpPr>
        <p:spPr bwMode="auto">
          <a:xfrm>
            <a:off x="813816" y="1969509"/>
            <a:ext cx="576986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Frontend</a:t>
            </a:r>
            <a:r>
              <a:rPr kumimoji="0" lang="en-US" altLang="en-US" sz="2400" b="0" i="0" u="none" strike="noStrike" cap="none" normalizeH="0" baseline="0" dirty="0">
                <a:ln>
                  <a:noFill/>
                </a:ln>
                <a:solidFill>
                  <a:schemeClr val="tx1"/>
                </a:solidFill>
                <a:effectLst/>
                <a:latin typeface="Arial" panose="020B0604020202020204" pitchFamily="34" charset="0"/>
              </a:rPr>
              <a:t>: HTML, CSS, JavaScript, React, TypeScript, Tailwind CSS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Backend</a:t>
            </a:r>
            <a:r>
              <a:rPr kumimoji="0" lang="en-US" altLang="en-US" sz="2400" b="0" i="0" u="none" strike="noStrike" cap="none" normalizeH="0" baseline="0" dirty="0">
                <a:ln>
                  <a:noFill/>
                </a:ln>
                <a:solidFill>
                  <a:schemeClr val="tx1"/>
                </a:solidFill>
                <a:effectLst/>
                <a:latin typeface="Arial" panose="020B0604020202020204" pitchFamily="34" charset="0"/>
              </a:rPr>
              <a:t>: Node.js with Express.js</a:t>
            </a:r>
            <a:r>
              <a:rPr lang="en-US" altLang="en-US" sz="2400" dirty="0">
                <a:latin typeface="Arial" panose="020B0604020202020204" pitchFamily="34" charset="0"/>
              </a:rPr>
              <a:t>, JWT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Database</a:t>
            </a:r>
            <a:r>
              <a:rPr kumimoji="0" lang="en-US" altLang="en-US" sz="2400" b="0" i="0" u="none" strike="noStrike" cap="none" normalizeH="0" baseline="0" dirty="0">
                <a:ln>
                  <a:noFill/>
                </a:ln>
                <a:solidFill>
                  <a:schemeClr val="tx1"/>
                </a:solidFill>
                <a:effectLst/>
                <a:latin typeface="Arial" panose="020B0604020202020204" pitchFamily="34" charset="0"/>
              </a:rPr>
              <a:t>: MySQL</a:t>
            </a:r>
          </a:p>
        </p:txBody>
      </p:sp>
    </p:spTree>
    <p:extLst>
      <p:ext uri="{BB962C8B-B14F-4D97-AF65-F5344CB8AC3E}">
        <p14:creationId xmlns:p14="http://schemas.microsoft.com/office/powerpoint/2010/main" val="688233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5082B-13B5-9D83-7BAB-EFC947207153}"/>
              </a:ext>
            </a:extLst>
          </p:cNvPr>
          <p:cNvSpPr>
            <a:spLocks noGrp="1"/>
          </p:cNvSpPr>
          <p:nvPr>
            <p:ph type="title"/>
          </p:nvPr>
        </p:nvSpPr>
        <p:spPr/>
        <p:txBody>
          <a:bodyPr/>
          <a:lstStyle/>
          <a:p>
            <a:r>
              <a:rPr lang="en-US" dirty="0"/>
              <a:t>Architecture</a:t>
            </a:r>
            <a:endParaRPr lang="en-IN" dirty="0"/>
          </a:p>
        </p:txBody>
      </p:sp>
      <p:sp>
        <p:nvSpPr>
          <p:cNvPr id="4" name="Subtitle 3">
            <a:extLst>
              <a:ext uri="{FF2B5EF4-FFF2-40B4-BE49-F238E27FC236}">
                <a16:creationId xmlns:a16="http://schemas.microsoft.com/office/drawing/2014/main" id="{F081DB36-865B-04B8-840C-F1E5D828C183}"/>
              </a:ext>
            </a:extLst>
          </p:cNvPr>
          <p:cNvSpPr>
            <a:spLocks noGrp="1"/>
          </p:cNvSpPr>
          <p:nvPr>
            <p:ph type="subTitle"/>
          </p:nvPr>
        </p:nvSpPr>
        <p:spPr>
          <a:xfrm>
            <a:off x="457380" y="1604520"/>
            <a:ext cx="8229240" cy="3977280"/>
          </a:xfrm>
        </p:spPr>
        <p:txBody>
          <a:bodyPr/>
          <a:lstStyle/>
          <a:p>
            <a:pPr marL="0" indent="0">
              <a:buNone/>
            </a:pPr>
            <a:endParaRPr lang="en-US" sz="1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system follows a three-tier architecture consisting of:</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Presentation Layer (Frontend)</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Application Layer (Backend)</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Data Layer (Database)</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This layered architecture ensures separation of concerns, scalability, and ease of maintenance.</a:t>
            </a:r>
          </a:p>
          <a:p>
            <a:endParaRPr lang="en-IN" dirty="0">
              <a:latin typeface="Times New Roman" panose="02020603050405020304" pitchFamily="18" charset="0"/>
              <a:cs typeface="Times New Roman" panose="02020603050405020304" pitchFamily="18" charset="0"/>
            </a:endParaRPr>
          </a:p>
          <a:p>
            <a:endParaRPr lang="en-IN" sz="1800" dirty="0"/>
          </a:p>
        </p:txBody>
      </p:sp>
    </p:spTree>
    <p:extLst>
      <p:ext uri="{BB962C8B-B14F-4D97-AF65-F5344CB8AC3E}">
        <p14:creationId xmlns:p14="http://schemas.microsoft.com/office/powerpoint/2010/main" val="4006735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BBCA0-B4E5-FEC4-3814-A677C5EF4780}"/>
              </a:ext>
            </a:extLst>
          </p:cNvPr>
          <p:cNvSpPr>
            <a:spLocks noGrp="1"/>
          </p:cNvSpPr>
          <p:nvPr>
            <p:ph type="title"/>
          </p:nvPr>
        </p:nvSpPr>
        <p:spPr/>
        <p:txBody>
          <a:bodyPr/>
          <a:lstStyle/>
          <a:p>
            <a:r>
              <a:rPr lang="en-US" dirty="0"/>
              <a:t>Key Features</a:t>
            </a:r>
            <a:endParaRPr lang="en-IN" dirty="0"/>
          </a:p>
        </p:txBody>
      </p:sp>
      <p:sp>
        <p:nvSpPr>
          <p:cNvPr id="4" name="Rectangle 1">
            <a:extLst>
              <a:ext uri="{FF2B5EF4-FFF2-40B4-BE49-F238E27FC236}">
                <a16:creationId xmlns:a16="http://schemas.microsoft.com/office/drawing/2014/main" id="{6D25BA9B-4A7E-7D9A-8B82-E814C9B315D4}"/>
              </a:ext>
            </a:extLst>
          </p:cNvPr>
          <p:cNvSpPr>
            <a:spLocks noGrp="1" noChangeArrowheads="1"/>
          </p:cNvSpPr>
          <p:nvPr>
            <p:ph type="subTitle"/>
          </p:nvPr>
        </p:nvSpPr>
        <p:spPr bwMode="auto">
          <a:xfrm>
            <a:off x="457200" y="1377169"/>
            <a:ext cx="8005665"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Authentication and Role Management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provides secure user registration and login for warehouse managers and staff.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Stock Availability and Schedule Management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and staff can define the availability of stock in inventory, update the stocks and manage operations efficiently.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Sales Processing and Order Management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Staff can easily record and process sales transactions through the web interface. Real-time updates ensure that inventory levels are automatically adjusted after every sale, reducing manual errors and keeping stock data consistently accurate across the system.</a:t>
            </a:r>
          </a:p>
          <a:p>
            <a:pPr lvl="0" eaLnBrk="0" fontAlgn="base" hangingPunct="0">
              <a:lnSpc>
                <a:spcPct val="100000"/>
              </a:lnSpc>
              <a:spcAft>
                <a:spcPct val="0"/>
              </a:spcAft>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Manager and Staff Dashboards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Separate dashboard views provide personalized insights. Managers can monitor overall stock health, revenue trends, and sales summaries, while staff can track day-to-day inventory movements, recent transactions, and low-stock warnings — all from a single, centralized interface.</a:t>
            </a:r>
          </a:p>
          <a:p>
            <a:pPr lvl="0" eaLnBrk="0" fontAlgn="base" hangingPunct="0">
              <a:lnSpc>
                <a:spcPct val="100000"/>
              </a:lnSpc>
              <a:spcAft>
                <a:spcPct val="0"/>
              </a:spcAft>
              <a:buFontTx/>
              <a:buChar char="•"/>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Database and Data Management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uses a structured database with secure connections and validation mechanisms to store user data, ensuring data integrity and protection against unauthorized access.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3969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6BABC-E9B7-2038-5899-99B45360CA47}"/>
              </a:ext>
            </a:extLst>
          </p:cNvPr>
          <p:cNvSpPr>
            <a:spLocks noGrp="1"/>
          </p:cNvSpPr>
          <p:nvPr>
            <p:ph type="title"/>
          </p:nvPr>
        </p:nvSpPr>
        <p:spPr/>
        <p:txBody>
          <a:bodyPr/>
          <a:lstStyle/>
          <a:p>
            <a:r>
              <a:rPr lang="en-IN" b="1" dirty="0"/>
              <a:t>Conclusion</a:t>
            </a:r>
            <a:endParaRPr lang="en-IN" dirty="0"/>
          </a:p>
        </p:txBody>
      </p:sp>
      <p:sp>
        <p:nvSpPr>
          <p:cNvPr id="3" name="Subtitle 2">
            <a:extLst>
              <a:ext uri="{FF2B5EF4-FFF2-40B4-BE49-F238E27FC236}">
                <a16:creationId xmlns:a16="http://schemas.microsoft.com/office/drawing/2014/main" id="{3FAE159F-68EC-5E12-3A91-9CF5A9ADBEC1}"/>
              </a:ext>
            </a:extLst>
          </p:cNvPr>
          <p:cNvSpPr>
            <a:spLocks noGrp="1"/>
          </p:cNvSpPr>
          <p:nvPr>
            <p:ph type="subTitle"/>
          </p:nvPr>
        </p:nvSpPr>
        <p:spPr>
          <a:xfrm>
            <a:off x="457380" y="1622808"/>
            <a:ext cx="8229240" cy="3977280"/>
          </a:xfrm>
        </p:spPr>
        <p:txBody>
          <a:bodyPr/>
          <a:lstStyle/>
          <a:p>
            <a:r>
              <a:rPr lang="en-US" sz="1800" dirty="0">
                <a:latin typeface="Times New Roman" panose="02020603050405020304" pitchFamily="18" charset="0"/>
                <a:cs typeface="Times New Roman" panose="02020603050405020304" pitchFamily="18" charset="0"/>
              </a:rPr>
              <a:t>The Warehouse Management System successfully modernizes traditional warehouse operations by providing a secure, efficient, and fully digitized platform for inventory tracking and sales management. By replacing manual processes with real-time automation, the system significantly reduces stock discrepancies, operational delays, and human errors that commonly affect warehouse productivity. The implementation of JWT-based authentication and </a:t>
            </a:r>
            <a:r>
              <a:rPr lang="en-US" sz="1800" dirty="0" err="1">
                <a:latin typeface="Times New Roman" panose="02020603050405020304" pitchFamily="18" charset="0"/>
                <a:cs typeface="Times New Roman" panose="02020603050405020304" pitchFamily="18" charset="0"/>
              </a:rPr>
              <a:t>bcrypt</a:t>
            </a:r>
            <a:r>
              <a:rPr lang="en-US" sz="1800" dirty="0">
                <a:latin typeface="Times New Roman" panose="02020603050405020304" pitchFamily="18" charset="0"/>
                <a:cs typeface="Times New Roman" panose="02020603050405020304" pitchFamily="18" charset="0"/>
              </a:rPr>
              <a:t> password hashing ensures that all sensitive data remains protected against unauthorized access at all times. </a:t>
            </a:r>
          </a:p>
          <a:p>
            <a:r>
              <a:rPr lang="en-US" sz="1800" dirty="0">
                <a:latin typeface="Times New Roman" panose="02020603050405020304" pitchFamily="18" charset="0"/>
                <a:cs typeface="Times New Roman" panose="02020603050405020304" pitchFamily="18" charset="0"/>
              </a:rPr>
              <a:t>A centralized analytics dashboard empowers managers with instant visibility into stock levels, sales trends, and revenue metrics, enabling faster and more informed decision-making. Automated email notifications for low-stock alerts and sales confirmations further reduce the manual workload on staff, allowing them to focus on higher-value tasks. The cloud-deployable architecture ensures scalability and accessibility, enabling warehouse personnel to manage operations securely from any location. Comprehensive testing across all modules confirmed the reliability, accuracy, and stability of the system under real-world conditions.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029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9</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35037</TotalTime>
  <Words>775</Words>
  <Application>Microsoft Office PowerPoint</Application>
  <PresentationFormat>On-screen Show (4:3)</PresentationFormat>
  <Paragraphs>63</Paragraphs>
  <Slides>9</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9</vt:i4>
      </vt:variant>
    </vt:vector>
  </HeadingPairs>
  <TitlesOfParts>
    <vt:vector size="14" baseType="lpstr">
      <vt:lpstr>Arial</vt:lpstr>
      <vt:lpstr>Calibri</vt:lpstr>
      <vt:lpstr>Times New Roman</vt:lpstr>
      <vt:lpstr>Office Theme</vt:lpstr>
      <vt:lpstr>c1</vt:lpstr>
      <vt:lpstr>PowerPoint Presentation</vt:lpstr>
      <vt:lpstr>PowerPoint Presentation</vt:lpstr>
      <vt:lpstr>My Role</vt:lpstr>
      <vt:lpstr>METHODOLOGY</vt:lpstr>
      <vt:lpstr>Technologies used</vt:lpstr>
      <vt:lpstr>Architecture</vt:lpstr>
      <vt:lpstr>Key Features</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Abhinav saini</cp:lastModifiedBy>
  <cp:revision>2310</cp:revision>
  <dcterms:created xsi:type="dcterms:W3CDTF">2010-04-09T07:36:15Z</dcterms:created>
  <dcterms:modified xsi:type="dcterms:W3CDTF">2026-05-13T16:40:52Z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